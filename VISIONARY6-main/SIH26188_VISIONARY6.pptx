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itchFamily="18" charset="0"/>
      <p:regular r:id="rId9"/>
      <p:bold r:id="rId10"/>
      <p:italic r:id="rId11"/>
    </p:embeddedFont>
    <p:embeddedFont>
      <p:font typeface="Oswald" charset="0"/>
      <p:regular r:id="rId12"/>
      <p:bold r:id="rId13"/>
    </p:embeddedFont>
    <p:embeddedFont>
      <p:font typeface="Calibri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876" y="-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6472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155543" y="759798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396996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1624164"/>
            <a:ext cx="715554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</a:rPr>
              <a:t>Problem Statement </a:t>
            </a:r>
            <a:r>
              <a:rPr lang="en-US" sz="2400" b="1">
                <a:solidFill>
                  <a:schemeClr val="dk1"/>
                </a:solidFill>
              </a:rPr>
              <a:t>ID </a:t>
            </a:r>
            <a:r>
              <a:rPr lang="en-US" sz="2400" b="1" smtClean="0">
                <a:solidFill>
                  <a:schemeClr val="dk1"/>
                </a:solidFill>
              </a:rPr>
              <a:t>– </a:t>
            </a:r>
            <a:r>
              <a:rPr lang="en-US" sz="2400" smtClean="0">
                <a:solidFill>
                  <a:schemeClr val="dk1"/>
                </a:solidFill>
              </a:rPr>
              <a:t>SIH26188</a:t>
            </a:r>
            <a:endParaRPr lang="en-US" sz="2400"/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</a:rPr>
              <a:t>Problem </a:t>
            </a:r>
            <a:r>
              <a:rPr lang="en-US" sz="2400" b="1">
                <a:solidFill>
                  <a:schemeClr val="dk1"/>
                </a:solidFill>
              </a:rPr>
              <a:t>Statement </a:t>
            </a:r>
            <a:r>
              <a:rPr lang="en-US" sz="2400" b="1" smtClean="0">
                <a:solidFill>
                  <a:schemeClr val="dk1"/>
                </a:solidFill>
              </a:rPr>
              <a:t>Title- </a:t>
            </a:r>
            <a:r>
              <a:rPr lang="en-US" sz="2400" smtClean="0">
                <a:solidFill>
                  <a:schemeClr val="dk1"/>
                </a:solidFill>
              </a:rPr>
              <a:t>AI Based Fake Identity &amp; Document Screening System</a:t>
            </a:r>
            <a:endParaRPr lang="en-US" sz="2400"/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smtClean="0">
                <a:solidFill>
                  <a:schemeClr val="dk1"/>
                </a:solidFill>
              </a:rPr>
              <a:t>Theme- </a:t>
            </a:r>
            <a:r>
              <a:rPr lang="en-US" sz="2400" smtClean="0">
                <a:solidFill>
                  <a:schemeClr val="dk1"/>
                </a:solidFill>
              </a:rPr>
              <a:t>Blockchain</a:t>
            </a:r>
            <a:r>
              <a:rPr lang="en-US" sz="2400" smtClean="0"/>
              <a:t> and </a:t>
            </a:r>
            <a:r>
              <a:rPr lang="en-US" sz="2400" smtClean="0">
                <a:solidFill>
                  <a:schemeClr val="dk1"/>
                </a:solidFill>
              </a:rPr>
              <a:t>Cybersecurity  </a:t>
            </a: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smtClean="0">
                <a:solidFill>
                  <a:schemeClr val="dk1"/>
                </a:solidFill>
              </a:rPr>
              <a:t>PS </a:t>
            </a:r>
            <a:r>
              <a:rPr lang="en-US" sz="2400" b="1">
                <a:solidFill>
                  <a:schemeClr val="dk1"/>
                </a:solidFill>
              </a:rPr>
              <a:t>Category- </a:t>
            </a:r>
            <a:r>
              <a:rPr lang="en-US" sz="2400" smtClean="0">
                <a:solidFill>
                  <a:schemeClr val="dk1"/>
                </a:solidFill>
              </a:rPr>
              <a:t>Software</a:t>
            </a:r>
            <a:endParaRPr lang="en-US" sz="2400"/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</a:rPr>
              <a:t>Team ID-</a:t>
            </a:r>
            <a:endParaRPr lang="en-US" sz="2400"/>
          </a:p>
          <a:p>
            <a:pPr marL="285750" lvl="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</a:rPr>
              <a:t>Team </a:t>
            </a:r>
            <a:r>
              <a:rPr lang="en-US" sz="2400" b="1" smtClean="0">
                <a:solidFill>
                  <a:schemeClr val="dk1"/>
                </a:solidFill>
              </a:rPr>
              <a:t>Name- </a:t>
            </a:r>
            <a:r>
              <a:rPr lang="en-US" sz="2400" smtClean="0">
                <a:solidFill>
                  <a:schemeClr val="dk1"/>
                </a:solidFill>
              </a:rPr>
              <a:t>VISIONARY6</a:t>
            </a:r>
            <a:endParaRPr lang="en-US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4" descr="Your startup LOGO"/>
          <p:cNvSpPr/>
          <p:nvPr/>
        </p:nvSpPr>
        <p:spPr>
          <a:xfrm>
            <a:off x="329773" y="252246"/>
            <a:ext cx="1579799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VISIONARY6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TextBox 106"/>
          <p:cNvSpPr txBox="1"/>
          <p:nvPr/>
        </p:nvSpPr>
        <p:spPr>
          <a:xfrm>
            <a:off x="329184" y="1417320"/>
            <a:ext cx="10881360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497D"/>
                </a:solidFill>
                <a:latin typeface="Arial"/>
              </a:rPr>
              <a:t>Proposed Solution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9184" y="1874519"/>
            <a:ext cx="10881360" cy="4572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VeriScan turns a single uploaded ID into one clear, explainable risk score: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29184" y="2423160"/>
            <a:ext cx="3160776" cy="187451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02920" y="2523744"/>
            <a:ext cx="566928" cy="56692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93776" y="3136392"/>
            <a:ext cx="2831592" cy="4572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70C0"/>
                </a:solidFill>
                <a:latin typeface="Arial"/>
              </a:rPr>
              <a:t>Ingest &amp; Verify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3776" y="3538728"/>
            <a:ext cx="2831592" cy="93564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Reads the uploaded Aadhaar / PAN / DL / Passport, runs OCR, checks format + checksum, and decodes the QR code</a:t>
            </a:r>
            <a:r>
              <a:rPr sz="1050" b="0">
                <a:solidFill>
                  <a:srgbClr val="333333"/>
                </a:solidFill>
                <a:latin typeface="Arial"/>
              </a:rPr>
              <a:t>.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3489960" y="3214115"/>
            <a:ext cx="502920" cy="292608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3992880" y="2423160"/>
            <a:ext cx="3160776" cy="187451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166616" y="2523744"/>
            <a:ext cx="566928" cy="566928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57472" y="3136392"/>
            <a:ext cx="2831592" cy="4572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9646"/>
                </a:solidFill>
                <a:latin typeface="Arial"/>
              </a:rPr>
              <a:t>Forensic Analysis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57472" y="3538728"/>
            <a:ext cx="2831592" cy="93564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A visual forensics layer most tools skip — Error Level Analysis plus copy-move detection to catch tampering</a:t>
            </a:r>
            <a:r>
              <a:rPr sz="1050" b="0">
                <a:solidFill>
                  <a:srgbClr val="333333"/>
                </a:solidFill>
                <a:latin typeface="Arial"/>
              </a:rPr>
              <a:t>.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7153656" y="3214115"/>
            <a:ext cx="502920" cy="292608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7656576" y="2423160"/>
            <a:ext cx="3160776" cy="187451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830312" y="2523744"/>
            <a:ext cx="566928" cy="56692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21168" y="3136392"/>
            <a:ext cx="2831592" cy="45720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97D"/>
                </a:solidFill>
                <a:latin typeface="Arial"/>
              </a:rPr>
              <a:t>Explainable Score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821168" y="3538728"/>
            <a:ext cx="2831592" cy="93564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One risk score (0–100) with the exact reasons flagged, so the verifier sees why — not just a “fake” label.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29184" y="4617720"/>
            <a:ext cx="5084064" cy="1325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489204" y="4777740"/>
            <a:ext cx="502920" cy="502920"/>
          </a:xfrm>
          <a:prstGeom prst="ellipse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6424" y="4782312"/>
            <a:ext cx="4123944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BACC6"/>
                </a:solidFill>
                <a:latin typeface="Arial"/>
              </a:rPr>
              <a:t>Explainable, Not Black-Box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9224" y="5394960"/>
            <a:ext cx="4535424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Every score ships with the reasons behind it — verifiers get an explanation, never a mystery flag</a:t>
            </a:r>
            <a:r>
              <a:rPr sz="1100" b="0">
                <a:solidFill>
                  <a:srgbClr val="333333"/>
                </a:solidFill>
                <a:latin typeface="Arial"/>
              </a:rPr>
              <a:t>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733288" y="4617720"/>
            <a:ext cx="5084064" cy="1325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5893308" y="4777740"/>
            <a:ext cx="502920" cy="502920"/>
          </a:xfrm>
          <a:prstGeom prst="ellipse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10528" y="4782312"/>
            <a:ext cx="4123944" cy="50292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064A2"/>
                </a:solidFill>
                <a:latin typeface="Arial"/>
              </a:rPr>
              <a:t>A Forensics Layer Most Tools Skip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53328" y="5394960"/>
            <a:ext cx="4535424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Error Level Analysis + copy-move detection surface tampering that plain OCR-based checkers miss entirely.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15" descr="Your startup LOGO"/>
          <p:cNvSpPr/>
          <p:nvPr/>
        </p:nvSpPr>
        <p:spPr>
          <a:xfrm>
            <a:off x="329771" y="252246"/>
            <a:ext cx="1581912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VISIONARY6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703320"/>
            <a:ext cx="10058400" cy="2041055"/>
          </a:xfrm>
          <a:prstGeom prst="rect">
            <a:avLst/>
          </a:prstGeom>
        </p:spPr>
      </p:pic>
      <p:sp>
        <p:nvSpPr>
          <p:cNvPr id="201" name="TextBox 200"/>
          <p:cNvSpPr txBox="1"/>
          <p:nvPr/>
        </p:nvSpPr>
        <p:spPr>
          <a:xfrm>
            <a:off x="612648" y="1501265"/>
            <a:ext cx="10881360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Built end-to-end on mature, open-source Python libraries — realistic within a hackathon timeline.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612648" y="2057400"/>
            <a:ext cx="1562100" cy="96012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599948" y="2182493"/>
            <a:ext cx="1562100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smtClean="0">
                <a:solidFill>
                  <a:srgbClr val="FFFFFF"/>
                </a:solidFill>
                <a:latin typeface="Arial"/>
              </a:rPr>
              <a:t>OCR</a:t>
            </a:r>
            <a:endParaRPr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12648" y="2514600"/>
            <a:ext cx="1562100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0" smtClean="0">
                <a:solidFill>
                  <a:srgbClr val="FFFFFF"/>
                </a:solidFill>
                <a:latin typeface="Arial"/>
              </a:rPr>
              <a:t>Tesseract / EasyOCR</a:t>
            </a:r>
            <a:endParaRPr b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Rounded Rectangle 204"/>
          <p:cNvSpPr/>
          <p:nvPr/>
        </p:nvSpPr>
        <p:spPr>
          <a:xfrm>
            <a:off x="2284476" y="2057400"/>
            <a:ext cx="1562100" cy="960120"/>
          </a:xfrm>
          <a:prstGeom prst="roundRect">
            <a:avLst>
              <a:gd name="adj" fmla="val 8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2284476" y="2182493"/>
            <a:ext cx="1562100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FORENSICS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284476" y="2514600"/>
            <a:ext cx="156210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0">
                <a:solidFill>
                  <a:srgbClr val="FFFFFF"/>
                </a:solidFill>
                <a:latin typeface="Arial"/>
              </a:rPr>
              <a:t>OpenCV + PIL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3956304" y="2057400"/>
            <a:ext cx="1562100" cy="960120"/>
          </a:xfrm>
          <a:prstGeom prst="roundRect">
            <a:avLst>
              <a:gd name="adj" fmla="val 8000"/>
            </a:avLst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3956304" y="2167128"/>
            <a:ext cx="1562100" cy="3200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QR CODE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956304" y="2514600"/>
            <a:ext cx="156210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pyzbar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628132" y="2057400"/>
            <a:ext cx="1562100" cy="960120"/>
          </a:xfrm>
          <a:prstGeom prst="roundRect">
            <a:avLst>
              <a:gd name="adj" fmla="val 8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5628132" y="2167128"/>
            <a:ext cx="1562100" cy="3200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RISK MODEL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628132" y="2514600"/>
            <a:ext cx="156210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scikit-learn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7299960" y="2057400"/>
            <a:ext cx="1562100" cy="96012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299960" y="2167128"/>
            <a:ext cx="1562100" cy="3200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299960" y="2514600"/>
            <a:ext cx="156210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8971788" y="2057400"/>
            <a:ext cx="1562100" cy="960120"/>
          </a:xfrm>
          <a:prstGeom prst="roundRect">
            <a:avLst>
              <a:gd name="adj" fmla="val 8000"/>
            </a:avLst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8971788" y="2167128"/>
            <a:ext cx="1562100" cy="3200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971788" y="2514600"/>
            <a:ext cx="156210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React Dashboard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12648" y="3246120"/>
            <a:ext cx="10058400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Arial"/>
              </a:rPr>
              <a:t>Methodology — the six-step verification pipeline: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12648" y="5833872"/>
            <a:ext cx="10058400" cy="438912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050" b="1">
                <a:solidFill>
                  <a:srgbClr val="1F497D"/>
                </a:solidFill>
                <a:latin typeface="Arial"/>
              </a:rPr>
              <a:t>Why this stack:   </a:t>
            </a:r>
            <a:r>
              <a:rPr sz="1050" b="0">
                <a:solidFill>
                  <a:srgbClr val="333333"/>
                </a:solidFill>
                <a:latin typeface="Arial"/>
              </a:rPr>
              <a:t>▸  Offline-capable, no paid APIs   ▸   Sub-2-second scoring per document   ▸   Runs on a single commodity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600"/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4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4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 descr="Your startup LOGO"/>
          <p:cNvSpPr/>
          <p:nvPr/>
        </p:nvSpPr>
        <p:spPr>
          <a:xfrm>
            <a:off x="329773" y="252246"/>
            <a:ext cx="1581912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VISIONARY6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Rounded Rectangle 130"/>
          <p:cNvSpPr/>
          <p:nvPr/>
        </p:nvSpPr>
        <p:spPr>
          <a:xfrm>
            <a:off x="557784" y="1417320"/>
            <a:ext cx="4855464" cy="21488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694944" y="1554480"/>
            <a:ext cx="548640" cy="548640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35024" y="1688717"/>
            <a:ext cx="3941064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9BBB59"/>
                </a:solidFill>
                <a:latin typeface="Arial"/>
              </a:rPr>
              <a:t>What Works In Our Favor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77824" y="2194560"/>
            <a:ext cx="4306824" cy="135626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▸  Every core piece — OCR, checksum rules, QR decoding, basic forensics — runs on mature open-source libraries</a:t>
            </a:r>
          </a:p>
          <a:p>
            <a:pPr algn="l">
              <a:spcAft>
                <a:spcPts val="80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▸  Realistic to build within a hackathon timeline</a:t>
            </a:r>
          </a:p>
          <a:p>
            <a:pPr algn="l">
              <a:spcAft>
                <a:spcPts val="80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▸  No special hardware required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733288" y="1417320"/>
            <a:ext cx="4855464" cy="21488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5870448" y="1554480"/>
            <a:ext cx="548640" cy="548640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510528" y="1688717"/>
            <a:ext cx="3941064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F79646"/>
                </a:solidFill>
                <a:latin typeface="Arial"/>
              </a:rPr>
              <a:t>Challenges We're Solving For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053328" y="2194560"/>
            <a:ext cx="4306824" cy="103823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▸  No public dataset of real fake IDs exists (for good reason)</a:t>
            </a:r>
          </a:p>
          <a:p>
            <a:pPr algn="l">
              <a:spcAft>
                <a:spcPts val="80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▸  OCR accuracy drops on poor-quality phone-camera scans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57784" y="3886200"/>
            <a:ext cx="2233422" cy="169164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423035" y="400050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9224" y="4599432"/>
            <a:ext cx="2050542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0070C0"/>
                </a:solidFill>
                <a:latin typeface="Arial"/>
              </a:rPr>
              <a:t>Rule-Based Checks First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9224" y="5074920"/>
            <a:ext cx="2050542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Zero training data needed to launch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2791206" y="4613148"/>
            <a:ext cx="365760" cy="237744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3156966" y="3886200"/>
            <a:ext cx="2233422" cy="169164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4022217" y="4000500"/>
            <a:ext cx="502920" cy="502920"/>
          </a:xfrm>
          <a:prstGeom prst="ellipse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248406" y="4599432"/>
            <a:ext cx="2050542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4BACC6"/>
                </a:solidFill>
                <a:latin typeface="Arial"/>
              </a:rPr>
              <a:t>Synthetic Tampered Samples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248406" y="5074920"/>
            <a:ext cx="2050542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Generated for realistic testing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5390388" y="4613148"/>
            <a:ext cx="365760" cy="237744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5756148" y="3886200"/>
            <a:ext cx="2233422" cy="169164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6621399" y="4000500"/>
            <a:ext cx="502920" cy="502920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847588" y="4599432"/>
            <a:ext cx="2050542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79646"/>
                </a:solidFill>
                <a:latin typeface="Arial"/>
              </a:rPr>
              <a:t>Image-Quality Guidance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847588" y="5074920"/>
            <a:ext cx="2050542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Nudges users to a clean upload</a:t>
            </a:r>
          </a:p>
        </p:txBody>
      </p:sp>
      <p:sp>
        <p:nvSpPr>
          <p:cNvPr id="153" name="Right Arrow 152"/>
          <p:cNvSpPr/>
          <p:nvPr/>
        </p:nvSpPr>
        <p:spPr>
          <a:xfrm>
            <a:off x="7989570" y="4613148"/>
            <a:ext cx="365760" cy="237744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53"/>
          <p:cNvSpPr/>
          <p:nvPr/>
        </p:nvSpPr>
        <p:spPr>
          <a:xfrm>
            <a:off x="8355330" y="3886200"/>
            <a:ext cx="2233422" cy="169164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9220581" y="4000500"/>
            <a:ext cx="502920" cy="502920"/>
          </a:xfrm>
          <a:prstGeom prst="ellipse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446770" y="4599432"/>
            <a:ext cx="2050542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8064A2"/>
                </a:solidFill>
                <a:latin typeface="Arial"/>
              </a:rPr>
              <a:t>License as a KYC API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46770" y="5074920"/>
            <a:ext cx="2050542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Standalone revenue for banks &amp; telecoms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57784" y="5687568"/>
            <a:ext cx="10058400" cy="566928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b="1">
                <a:solidFill>
                  <a:srgbClr val="F79646"/>
                </a:solidFill>
                <a:latin typeface="Arial"/>
              </a:rPr>
              <a:t>Bottom line:   </a:t>
            </a:r>
            <a:r>
              <a:rPr b="0">
                <a:solidFill>
                  <a:srgbClr val="333333"/>
                </a:solidFill>
                <a:latin typeface="Arial"/>
              </a:rPr>
              <a:t>▸  Buildable by a small team within the hackathon window   ▸   Every dependency is free, open-source and well-documented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3600"/>
          </a:p>
        </p:txBody>
      </p: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4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4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17" descr="Your startup LOGO"/>
          <p:cNvSpPr/>
          <p:nvPr/>
        </p:nvSpPr>
        <p:spPr>
          <a:xfrm>
            <a:off x="329772" y="252246"/>
            <a:ext cx="1581912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VISIONARY6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TextBox 142"/>
          <p:cNvSpPr txBox="1"/>
          <p:nvPr/>
        </p:nvSpPr>
        <p:spPr>
          <a:xfrm>
            <a:off x="557784" y="1478405"/>
            <a:ext cx="10058400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F497D"/>
                </a:solidFill>
                <a:latin typeface="Arial"/>
              </a:rPr>
              <a:t>Who Uses VeriScan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57784" y="1874519"/>
            <a:ext cx="2302002" cy="141732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320165" y="1943099"/>
            <a:ext cx="777240" cy="7772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GOV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30936" y="2788919"/>
            <a:ext cx="2155698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333333"/>
                </a:solidFill>
                <a:latin typeface="Arial"/>
              </a:rPr>
              <a:t>Government Verification Desks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134106" y="1874519"/>
            <a:ext cx="2302002" cy="141732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3896487" y="1943099"/>
            <a:ext cx="777240" cy="777240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BANK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07258" y="2788919"/>
            <a:ext cx="2155698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333333"/>
                </a:solidFill>
                <a:latin typeface="Arial"/>
              </a:rPr>
              <a:t>Bank / NBFC KYC Teams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710428" y="1874519"/>
            <a:ext cx="2302002" cy="141732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6472809" y="1943099"/>
            <a:ext cx="777240" cy="777240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TEL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783580" y="2788919"/>
            <a:ext cx="2155698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333333"/>
                </a:solidFill>
                <a:latin typeface="Arial"/>
              </a:rPr>
              <a:t>Telecom SIM Counters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286750" y="1874519"/>
            <a:ext cx="2302002" cy="141732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9049131" y="1943099"/>
            <a:ext cx="777240" cy="777240"/>
          </a:xfrm>
          <a:prstGeom prst="ellipse">
            <a:avLst/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HR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59902" y="2788919"/>
            <a:ext cx="2155698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333333"/>
                </a:solidFill>
                <a:latin typeface="Arial"/>
              </a:rPr>
              <a:t>HR Onboarding Teams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57784" y="3581525"/>
            <a:ext cx="10058400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F497D"/>
                </a:solidFill>
                <a:latin typeface="Arial"/>
              </a:rPr>
              <a:t>Impact &amp; Benefits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57784" y="3977639"/>
            <a:ext cx="3160776" cy="17830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786384" y="4178807"/>
            <a:ext cx="1737360" cy="411480"/>
          </a:xfrm>
          <a:prstGeom prst="roundRect">
            <a:avLst>
              <a:gd name="adj" fmla="val 30000"/>
            </a:avLst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86384" y="4754879"/>
            <a:ext cx="2703576" cy="720197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Fewer citizens hurt by identity fraud, with faster, fairer verification for everyone.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992880" y="3977639"/>
            <a:ext cx="3160776" cy="17830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4221480" y="4178807"/>
            <a:ext cx="1737360" cy="41148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221480" y="4754879"/>
            <a:ext cx="2703576" cy="720197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Cuts manual review time and the fraud-driven loan and SIM losses institutions absorb today.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427976" y="3977639"/>
            <a:ext cx="3160776" cy="17830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7656576" y="4178807"/>
            <a:ext cx="1737360" cy="411480"/>
          </a:xfrm>
          <a:prstGeom prst="roundRect">
            <a:avLst>
              <a:gd name="adj" fmla="val 30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BUSINESS MODEL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656576" y="4754879"/>
            <a:ext cx="2703576" cy="720197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A pay-per-scan API for fintechs and telecoms — not just a one-time government deployment.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57784" y="5852160"/>
            <a:ext cx="10058400" cy="438912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b="1">
                <a:solidFill>
                  <a:srgbClr val="0070C0"/>
                </a:solidFill>
                <a:latin typeface="Arial"/>
              </a:rPr>
              <a:t>Market opportunity:   </a:t>
            </a:r>
            <a:r>
              <a:rPr b="0">
                <a:solidFill>
                  <a:srgbClr val="333333"/>
                </a:solidFill>
                <a:latin typeface="Arial"/>
              </a:rPr>
              <a:t>▸  1B+ Aadhaar-linked verifications happen in India every year   ▸   KYC fraud costs banks and telecoms crores annually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600"/>
          </a:p>
        </p:txBody>
      </p:sp>
      <p:sp>
        <p:nvSpPr>
          <p:cNvPr id="151" name="Google Shape;151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4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4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18" descr="Your startup LOGO"/>
          <p:cNvSpPr/>
          <p:nvPr/>
        </p:nvSpPr>
        <p:spPr>
          <a:xfrm>
            <a:off x="329772" y="252246"/>
            <a:ext cx="1581912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VISIONARY6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Rounded Rectangle 154"/>
          <p:cNvSpPr/>
          <p:nvPr/>
        </p:nvSpPr>
        <p:spPr>
          <a:xfrm>
            <a:off x="557784" y="1508760"/>
            <a:ext cx="4878324" cy="20116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694944" y="1645920"/>
            <a:ext cx="640080" cy="6400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ELA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426464" y="1816733"/>
            <a:ext cx="3826764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0070C0"/>
                </a:solidFill>
                <a:latin typeface="Arial"/>
              </a:rPr>
              <a:t>Tamper Detection — ELA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77824" y="2377440"/>
            <a:ext cx="4283964" cy="720197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Krawetz, “A Picture's Worth” (Hacker Factor) — Error Level Analysis exposes recompressed, edited regions.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710428" y="1508760"/>
            <a:ext cx="4878324" cy="20116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5847588" y="1645920"/>
            <a:ext cx="640080" cy="640080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ID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79108" y="1816733"/>
            <a:ext cx="3826764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F79646"/>
                </a:solidFill>
                <a:latin typeface="Arial"/>
              </a:rPr>
              <a:t>ID Checksum Validation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30468" y="2377440"/>
            <a:ext cx="4283964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Verhoeff checksum algorithm — the same method UIDAI uses to validate Aadhaar numbers.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57784" y="3794760"/>
            <a:ext cx="4878324" cy="20116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694944" y="3931920"/>
            <a:ext cx="640080" cy="640080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CM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26464" y="4102733"/>
            <a:ext cx="3826764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9BBB59"/>
                </a:solidFill>
                <a:latin typeface="Arial"/>
              </a:rPr>
              <a:t>Copy-Move Detection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77824" y="4663440"/>
            <a:ext cx="4283964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SIFT / ORB feature matching (OpenCV docs) — flags duplicated regions pasted within a document.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710428" y="3794760"/>
            <a:ext cx="4878324" cy="20116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5847588" y="3931920"/>
            <a:ext cx="640080" cy="64008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36576" rIns="54864" bIns="36576" rtlCol="0" anchor="ctr"/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rial"/>
              </a:rPr>
              <a:t>LAW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79108" y="4102733"/>
            <a:ext cx="3826764" cy="28931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F497D"/>
                </a:solidFill>
                <a:latin typeface="Arial"/>
              </a:rPr>
              <a:t>Data Compliance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030468" y="4663440"/>
            <a:ext cx="4283964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333333"/>
                </a:solidFill>
                <a:latin typeface="Arial"/>
              </a:rPr>
              <a:t>DPDP Act, 2023 — referenced for lawful, consent-based handling of applicant data.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57784" y="5897880"/>
            <a:ext cx="10058400" cy="384048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b="1">
                <a:solidFill>
                  <a:srgbClr val="8A1F1F"/>
                </a:solidFill>
                <a:latin typeface="Arial"/>
              </a:rPr>
              <a:t>Why it matters:   </a:t>
            </a:r>
            <a:r>
              <a:rPr b="0">
                <a:solidFill>
                  <a:srgbClr val="333333"/>
                </a:solidFill>
                <a:latin typeface="Arial"/>
              </a:rPr>
              <a:t>▸  Every technique is peer-reviewed or industry-standard   ▸   Grounded in real regulatory requirements, not assumptions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615</Words>
  <Application>Microsoft Office PowerPoint</Application>
  <PresentationFormat>Custom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Garamond</vt:lpstr>
      <vt:lpstr>Oswald</vt:lpstr>
      <vt:lpstr>Times New Roman</vt:lpstr>
      <vt:lpstr>Calibri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Chinmayee Aradhya V H</dc:creator>
  <cp:lastModifiedBy>LENOVO</cp:lastModifiedBy>
  <cp:revision>7</cp:revision>
  <dcterms:modified xsi:type="dcterms:W3CDTF">2026-08-29T02:41:57Z</dcterms:modified>
</cp:coreProperties>
</file>